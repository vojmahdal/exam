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9075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D5BEB-5653-A340-6270-5B6C74259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FD0F41-0D53-6669-E1D6-7FA8347989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ADD30A-40FC-DFDC-4186-D66DDAD005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2D1617-F9AE-1E1D-DDA5-4988EA4035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828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DIPLOMOVÁ PRÁCE  ·  MENDEL</a:t>
            </a:r>
            <a:r>
              <a:rPr lang="cs-CZ" sz="900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OVA UNIVERZITA V</a:t>
            </a:r>
            <a:r>
              <a:rPr lang="en-US" sz="900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BRN</a:t>
            </a:r>
            <a:r>
              <a:rPr lang="cs-CZ" sz="900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Ě</a:t>
            </a:r>
            <a:r>
              <a:rPr lang="en-US" sz="900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772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Analýza a extrakce dat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konverzací mezi uživateli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podpůrnými službami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0292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Bc. Vojtěch Mahdal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Vedoucí práce: doc. Ing. Oldřich Trenz, Ph.D.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977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Ústav informatiky  ·  Provozně ekonomická fakulta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466344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 ·  Sentiment analýza  ·  RoBERTa  ·  FastAPI  ·  GDPR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|  Řešený problém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11480" y="1737360"/>
            <a:ext cx="24688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/>
          <p:nvPr/>
        </p:nvSpPr>
        <p:spPr>
          <a:xfrm>
            <a:off x="411480" y="181051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Narůstající objem konverzací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46888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Organizace každodenně zpracovávají tisíce chatových interakcí se zákazníky. Ruční analýza je neúnosná.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3337560" y="11430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3383280" y="1737360"/>
            <a:ext cx="24688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3383280" y="181051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Potřeba automatické analýzy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246888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Sentimentová analýza a extrakce entit (NER) umožňují rychlé zpracování nestrukturovaných dat a jejich přeměnu na kvantitativní ukazatele.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05156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6" name="Text 14"/>
          <p:cNvSpPr/>
          <p:nvPr/>
        </p:nvSpPr>
        <p:spPr>
          <a:xfrm>
            <a:off x="6309360" y="11430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6355080" y="1737360"/>
            <a:ext cx="24688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8" name="Text 16"/>
          <p:cNvSpPr/>
          <p:nvPr/>
        </p:nvSpPr>
        <p:spPr>
          <a:xfrm>
            <a:off x="6355080" y="181051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a ochrana dat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5080" y="246888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Při zpracování konverzací je nutná anonymizace osobních údajů. Technické řešení musí být v souladu s nařízením EU 2016/679.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|  Cíl práce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813816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Analýza, návrh, implementace a testování systému pro automatickou extrakci a zpracování informací z neformálních textových konverzací prostřednictvím metod a přístupů umělé inteligence, fine-tuningu modelu a jeho nasazení pro koncové uživatele.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523744"/>
            <a:ext cx="2743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/>
          <p:nvPr/>
        </p:nvSpPr>
        <p:spPr>
          <a:xfrm>
            <a:off x="365760" y="2523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Analýza NLP metod pro sentimentovou klasifikaci a extrakci entit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999232"/>
            <a:ext cx="2743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365760" y="2999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94436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Výběr vhodných datasetů a technologií (Python, Hugging Face, RoBERTa)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474720"/>
            <a:ext cx="2743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Text 12"/>
          <p:cNvSpPr/>
          <p:nvPr/>
        </p:nvSpPr>
        <p:spPr>
          <a:xfrm>
            <a:off x="365760" y="3474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419856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modelu RoBERTa na chatových konverzacích ve třech etapách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950208"/>
            <a:ext cx="2743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Text 15"/>
          <p:cNvSpPr/>
          <p:nvPr/>
        </p:nvSpPr>
        <p:spPr>
          <a:xfrm>
            <a:off x="365760" y="3950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3895344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Implementace REST API (FastAPI) s anonymizací a databázovým logováním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425696"/>
            <a:ext cx="2743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0" name="Text 18"/>
          <p:cNvSpPr/>
          <p:nvPr/>
        </p:nvSpPr>
        <p:spPr>
          <a:xfrm>
            <a:off x="365760" y="4425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437083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Nasazení funkčního dashboardu přístupného veřejnosti na Hugging Face Spaces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|  Metodika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 &amp; datové sady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7490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/>
          <p:nvPr/>
        </p:nvSpPr>
        <p:spPr>
          <a:xfrm>
            <a:off x="502920" y="14813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Python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0" y="148132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hlavní jazyk implementace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0299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🤗 Hugging Face Transformers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202996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knihovna pro NLP modely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5786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RoBERTa base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257860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zvolený transformer model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12724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FastAPI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312724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framework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67588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SQLite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68880" y="367588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databáze logů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42245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3 datasety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468880" y="422452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chat-sentiment, EmpatheticDialogues, Chat Sentiment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960120"/>
            <a:ext cx="4206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1" name="Text 19"/>
          <p:cNvSpPr/>
          <p:nvPr/>
        </p:nvSpPr>
        <p:spPr>
          <a:xfrm>
            <a:off x="4846320" y="1051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Postup fine-tuningu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1371600"/>
            <a:ext cx="3840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3" name="Shape 21"/>
          <p:cNvSpPr/>
          <p:nvPr/>
        </p:nvSpPr>
        <p:spPr>
          <a:xfrm>
            <a:off x="4846320" y="1481328"/>
            <a:ext cx="3200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4" name="Text 22"/>
          <p:cNvSpPr/>
          <p:nvPr/>
        </p:nvSpPr>
        <p:spPr>
          <a:xfrm>
            <a:off x="4846320" y="1481328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39512" y="148132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Načtení &amp; anonymizace dat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39512" y="168249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maskování jmen, e-mailů, tel. čísel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46320" y="2020824"/>
            <a:ext cx="3200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8" name="Text 26"/>
          <p:cNvSpPr/>
          <p:nvPr/>
        </p:nvSpPr>
        <p:spPr>
          <a:xfrm>
            <a:off x="4846320" y="2020824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39512" y="202082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Tokenizace (RoBERTa tokenizer)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39512" y="222199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padding, truncation, attention mask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46320" y="2560320"/>
            <a:ext cx="3200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2" name="Text 30"/>
          <p:cNvSpPr/>
          <p:nvPr/>
        </p:nvSpPr>
        <p:spPr>
          <a:xfrm>
            <a:off x="4846320" y="256032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39512" y="256032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– chat-sentiment (28,8k)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39512" y="276148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třídy: pos / neu / neg, vyvážení vah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46320" y="3099816"/>
            <a:ext cx="3200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6" name="Text 34"/>
          <p:cNvSpPr/>
          <p:nvPr/>
        </p:nvSpPr>
        <p:spPr>
          <a:xfrm>
            <a:off x="4846320" y="3099816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239512" y="309981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– EmpatheticDialogues (25k)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39512" y="3300984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mapování 32 emocí → 3 třídy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46320" y="3639312"/>
            <a:ext cx="3200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0" name="Text 38"/>
          <p:cNvSpPr/>
          <p:nvPr/>
        </p:nvSpPr>
        <p:spPr>
          <a:xfrm>
            <a:off x="4846320" y="3639312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239512" y="363931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 – Chat Sentiment Dataset (500)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39512" y="38404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finální doladění neutralní třídy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46320" y="4178808"/>
            <a:ext cx="3200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4" name="Text 42"/>
          <p:cNvSpPr/>
          <p:nvPr/>
        </p:nvSpPr>
        <p:spPr>
          <a:xfrm>
            <a:off x="4846320" y="4178808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239512" y="417880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Testování &amp; nasazení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239512" y="437997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 Hub + FastAPI + dashboard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|  Výsledky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43200" cy="14173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92,82 %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645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finálního modelu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1965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nezávislé testovací sadě (1 573 vzorků)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743200" cy="14173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/>
          <p:nvPr/>
        </p:nvSpPr>
        <p:spPr>
          <a:xfrm>
            <a:off x="3291840" y="1005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0,9152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91840" y="1645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finální verze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91840" y="1965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vyvážená metrika pro 3 třídy sentimentu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960120"/>
            <a:ext cx="2743200" cy="14173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4" name="Text 12"/>
          <p:cNvSpPr/>
          <p:nvPr/>
        </p:nvSpPr>
        <p:spPr>
          <a:xfrm>
            <a:off x="6217920" y="1005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83,66 %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217920" y="1645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Překonány existující modely HF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17920" y="1965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twitter-roberta, sentiment-roberta-large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2423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Nejčastější chyby – srovnání verzí modelu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3406995"/>
              </p:ext>
            </p:extLst>
          </p:nvPr>
        </p:nvGraphicFramePr>
        <p:xfrm>
          <a:off x="274320" y="2788920"/>
          <a:ext cx="8595362" cy="2103120"/>
        </p:xfrm>
        <a:graphic>
          <a:graphicData uri="http://schemas.openxmlformats.org/drawingml/2006/table">
            <a:tbl>
              <a:tblPr/>
              <a:tblGrid>
                <a:gridCol w="1969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39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02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Verze modelu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Hlavní typ chyby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Počet chyb celkem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Verze 1 (dataset1)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83,41 %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positive→neutral, negative→neutral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Verze 2 (dataset2)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70,06 %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neutral→positive (212×), neutral→negative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Finální (dataset3)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92,82 %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neutral→positive (80×)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|  Doporučení &amp; zhodnocení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Splnění cíle práce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99032"/>
            <a:ext cx="37490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237744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48132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Navržen a natrénován model RoBERTa (accuracy 92,82 %)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30552"/>
            <a:ext cx="237744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Text 10"/>
          <p:cNvSpPr/>
          <p:nvPr/>
        </p:nvSpPr>
        <p:spPr>
          <a:xfrm>
            <a:off x="457200" y="21305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21031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Překonány předtrénované referenční modely z Hugging Face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52344"/>
            <a:ext cx="237744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Text 13"/>
          <p:cNvSpPr/>
          <p:nvPr/>
        </p:nvSpPr>
        <p:spPr>
          <a:xfrm>
            <a:off x="457200" y="27523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272491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Implementováno REST API s anonymizací (GDPR) a logováním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374136"/>
            <a:ext cx="237744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8" name="Text 16"/>
          <p:cNvSpPr/>
          <p:nvPr/>
        </p:nvSpPr>
        <p:spPr>
          <a:xfrm>
            <a:off x="457200" y="33741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334670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Funkční veřejný dashboard na Hugging Face Spaces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995928"/>
            <a:ext cx="237744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Text 19"/>
          <p:cNvSpPr/>
          <p:nvPr/>
        </p:nvSpPr>
        <p:spPr>
          <a:xfrm>
            <a:off x="457200" y="39959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3968496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Kód open-source dostupný na GitHub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960120"/>
            <a:ext cx="42062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4" name="Text 22"/>
          <p:cNvSpPr/>
          <p:nvPr/>
        </p:nvSpPr>
        <p:spPr>
          <a:xfrm>
            <a:off x="4846320" y="10515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 Doporučení pro rozvoj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1399032"/>
            <a:ext cx="38404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6" name="Shape 24"/>
          <p:cNvSpPr/>
          <p:nvPr/>
        </p:nvSpPr>
        <p:spPr>
          <a:xfrm>
            <a:off x="4846320" y="1508760"/>
            <a:ext cx="237744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7" name="Text 25"/>
          <p:cNvSpPr/>
          <p:nvPr/>
        </p:nvSpPr>
        <p:spPr>
          <a:xfrm>
            <a:off x="4846320" y="15087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66360" y="1508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na doménových datech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66360" y="17830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Přizpůsobení zákaznickým chatům konkrétní firmy zvýší přesnost o dalších 5–10 %.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2331720"/>
            <a:ext cx="237744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1" name="Text 29"/>
          <p:cNvSpPr/>
          <p:nvPr/>
        </p:nvSpPr>
        <p:spPr>
          <a:xfrm>
            <a:off x="4846320" y="23317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66360" y="2331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Detekce ironie a sarkasmu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66360" y="26060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Největší výzva pro NLP; řešení: více kontextu, víceúrovňové modely.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3154680"/>
            <a:ext cx="237744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5" name="Text 33"/>
          <p:cNvSpPr/>
          <p:nvPr/>
        </p:nvSpPr>
        <p:spPr>
          <a:xfrm>
            <a:off x="4846320" y="31546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66360" y="3154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Zpětná vazba uživatelů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66360" y="34290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Mechanismus potvrzování/opravy sentimentu umožní průběžné online učení.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3977640"/>
            <a:ext cx="237744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9" name="Text 37"/>
          <p:cNvSpPr/>
          <p:nvPr/>
        </p:nvSpPr>
        <p:spPr>
          <a:xfrm>
            <a:off x="4846320" y="39776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166360" y="3977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Rozšíření anonymizace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66360" y="42519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Nahradit regex NER modelem pro přesnější detekci jmen v kontextu.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Odpovědi na otázky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4572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s-CZ" sz="1400" i="1" dirty="0">
                <a:solidFill>
                  <a:srgbClr val="14B8A6"/>
                </a:solidFill>
                <a:latin typeface="Calibri" pitchFamily="34" charset="0"/>
                <a:cs typeface="Calibri" pitchFamily="34" charset="-120"/>
              </a:rPr>
              <a:t>Otázky vedoucího práce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8046720" cy="822960"/>
          </a:xfrm>
          <a:prstGeom prst="rect">
            <a:avLst/>
          </a:prstGeom>
          <a:solidFill>
            <a:srgbClr val="1E3A5F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685800" y="26517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cs-CZ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Zadání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práce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zahrnovalo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extrakci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analýzu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sentimentu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kategorizaci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témat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Které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těchto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oblastí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</a:t>
            </a:r>
            <a:endParaRPr lang="en-US" sz="1300" i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považuje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výsledném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řešení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za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nejlépe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naplněné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které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bylo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nutné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dále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dopracovat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produkční</a:t>
            </a:r>
            <a:endParaRPr lang="en-US" sz="1300" i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použití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8046720" cy="822960"/>
          </a:xfrm>
          <a:prstGeom prst="rect">
            <a:avLst/>
          </a:prstGeom>
          <a:solidFill>
            <a:srgbClr val="1E3A5F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/>
          <p:nvPr/>
        </p:nvSpPr>
        <p:spPr>
          <a:xfrm>
            <a:off x="685800" y="36576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cs-CZ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by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dále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zlepšil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anonymizaci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osobních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údajů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zejména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rozpoznávání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osobních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jmen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aby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řešení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lépe</a:t>
            </a:r>
            <a:endParaRPr lang="en-US" sz="1300" i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odpovídalo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požadavkům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GDPR a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bylo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použitelné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reálné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zákaznické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konverzace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EA4F55-8BE2-233D-3BEE-191B9B84B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3FFCA45-A55A-FDE7-AA91-DEC3B9A32D26}"/>
              </a:ext>
            </a:extLst>
          </p:cNvPr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B2E45A1-52F7-273D-F6E0-3B4B35E3BCE9}"/>
              </a:ext>
            </a:extLst>
          </p:cNvPr>
          <p:cNvSpPr/>
          <p:nvPr/>
        </p:nvSpPr>
        <p:spPr>
          <a:xfrm>
            <a:off x="548640" y="12801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Odpovědi na otázky</a:t>
            </a:r>
            <a:endParaRPr lang="en-US" sz="3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6202DCF-8BC0-36C5-6CF7-2889CEC38E46}"/>
              </a:ext>
            </a:extLst>
          </p:cNvPr>
          <p:cNvSpPr/>
          <p:nvPr/>
        </p:nvSpPr>
        <p:spPr>
          <a:xfrm>
            <a:off x="548640" y="1965960"/>
            <a:ext cx="4572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96529D0-EE49-6B2C-0485-33E9FD59DBDF}"/>
              </a:ext>
            </a:extLst>
          </p:cNvPr>
          <p:cNvSpPr/>
          <p:nvPr/>
        </p:nvSpPr>
        <p:spPr>
          <a:xfrm>
            <a:off x="548640" y="2103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cs-CZ" sz="1400" i="1" dirty="0">
                <a:solidFill>
                  <a:srgbClr val="14B8A6"/>
                </a:solidFill>
                <a:latin typeface="Calibri" pitchFamily="34" charset="0"/>
                <a:cs typeface="Calibri" pitchFamily="34" charset="-120"/>
              </a:rPr>
              <a:t>Otázky oponenta práce</a:t>
            </a:r>
            <a:endParaRPr lang="en-US" sz="14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88B2672-4360-283A-0929-97FECD059DFD}"/>
              </a:ext>
            </a:extLst>
          </p:cNvPr>
          <p:cNvSpPr/>
          <p:nvPr/>
        </p:nvSpPr>
        <p:spPr>
          <a:xfrm>
            <a:off x="548640" y="2468880"/>
            <a:ext cx="8046720" cy="822960"/>
          </a:xfrm>
          <a:prstGeom prst="rect">
            <a:avLst/>
          </a:prstGeom>
          <a:solidFill>
            <a:srgbClr val="1E3A5F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D76E8F0-3E00-B6F9-D1F8-A57EAEA8DA54}"/>
              </a:ext>
            </a:extLst>
          </p:cNvPr>
          <p:cNvSpPr/>
          <p:nvPr/>
        </p:nvSpPr>
        <p:spPr>
          <a:xfrm>
            <a:off x="685800" y="24688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cs-CZ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anonymizaci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využíváte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limitující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regulární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výrazy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Uvažoval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jste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nasazení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specializovaných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malých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NER</a:t>
            </a:r>
          </a:p>
          <a:p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modelů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Jak by to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ovlivnilo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výpočetní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náročnost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produkci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6FE10B6-442B-F34C-8A5C-430D8637823B}"/>
              </a:ext>
            </a:extLst>
          </p:cNvPr>
          <p:cNvSpPr/>
          <p:nvPr/>
        </p:nvSpPr>
        <p:spPr>
          <a:xfrm>
            <a:off x="548640" y="3360420"/>
            <a:ext cx="8046720" cy="822960"/>
          </a:xfrm>
          <a:prstGeom prst="rect">
            <a:avLst/>
          </a:prstGeom>
          <a:solidFill>
            <a:srgbClr val="1E3A5F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cs-CZ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1666A3D-3009-4B3C-310D-D96DC00B4C5C}"/>
              </a:ext>
            </a:extLst>
          </p:cNvPr>
          <p:cNvSpPr/>
          <p:nvPr/>
        </p:nvSpPr>
        <p:spPr>
          <a:xfrm>
            <a:off x="685800" y="33604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cs-CZ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Finální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vyhodnocujete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primárně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předzpracovaných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syntetických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datech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(ChatGPT, Gemini). Byl model</a:t>
            </a:r>
          </a:p>
          <a:p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testován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surových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reálných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textech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praxe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obsahujících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překlepy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slang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či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chybějící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diakritiku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)?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0D805DCC-4DD8-75CD-6CC5-80B05098C6C8}"/>
              </a:ext>
            </a:extLst>
          </p:cNvPr>
          <p:cNvSpPr/>
          <p:nvPr/>
        </p:nvSpPr>
        <p:spPr>
          <a:xfrm>
            <a:off x="548640" y="4251960"/>
            <a:ext cx="8046720" cy="822960"/>
          </a:xfrm>
          <a:prstGeom prst="rect">
            <a:avLst/>
          </a:prstGeom>
          <a:solidFill>
            <a:srgbClr val="1E3A5F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cs-CZ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3CCD5DE9-14FF-D129-A001-7E634D415DFA}"/>
              </a:ext>
            </a:extLst>
          </p:cNvPr>
          <p:cNvSpPr/>
          <p:nvPr/>
        </p:nvSpPr>
        <p:spPr>
          <a:xfrm>
            <a:off x="685800" y="42519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cs-CZ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Zmiňujete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fixní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nastavení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parametrů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učení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Provedl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jste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hyperparametrickou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optimalizaci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např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Grid Search),</a:t>
            </a:r>
          </a:p>
          <a:p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nebo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jste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pouze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převzal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oborové</a:t>
            </a: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„best-practices“?</a:t>
            </a:r>
            <a:endParaRPr lang="en-US" sz="13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1741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740</Words>
  <Application>Microsoft Office PowerPoint</Application>
  <PresentationFormat>Předvádění na obrazovce (16:9)</PresentationFormat>
  <Paragraphs>138</Paragraphs>
  <Slides>8</Slides>
  <Notes>8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Analýza a extrakce dat z konverzací</dc:title>
  <dc:subject>PptxGenJS Presentation</dc:subject>
  <dc:creator>PptxGenJS</dc:creator>
  <cp:lastModifiedBy>Mahdal Vojtěch (221834)</cp:lastModifiedBy>
  <cp:revision>5</cp:revision>
  <dcterms:created xsi:type="dcterms:W3CDTF">2026-05-27T06:15:10Z</dcterms:created>
  <dcterms:modified xsi:type="dcterms:W3CDTF">2026-06-20T15:37:11Z</dcterms:modified>
</cp:coreProperties>
</file>