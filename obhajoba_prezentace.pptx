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28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02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075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D5BEB-5653-A340-6270-5B6C74259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0F41-0D53-6669-E1D6-7FA8347989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ADD30A-40FC-DFDC-4186-D66DDAD00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D1617-F9AE-1E1D-DDA5-4988EA4035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282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321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DIPLOMOVÁ PRÁCE  ·  MENDEL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 UNIVERZITA V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BRN</a:t>
            </a:r>
            <a:r>
              <a:rPr lang="cs-CZ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Ě</a:t>
            </a:r>
            <a:r>
              <a:rPr lang="en-US" sz="900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a extrakce dat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konverzací mezi uživateli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podpůrnými službami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029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Bc. Vojtěch Mahdal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doc. Ing. Oldřich Trenz, Ph.D.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Ústav informatiky  ·  Provozně ekonomická fakulta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 ·  Sentiment analýza  ·  RoBERTa  ·  FastAPI  ·  GDPR</a:t>
            </a:r>
            <a:endParaRPr lang="en-US" sz="1000" dirty="0"/>
          </a:p>
        </p:txBody>
      </p:sp>
      <p:pic>
        <p:nvPicPr>
          <p:cNvPr id="11" name="Obrázek 10" descr="Detail fakulty | GAUDEAMUS">
            <a:extLst>
              <a:ext uri="{FF2B5EF4-FFF2-40B4-BE49-F238E27FC236}">
                <a16:creationId xmlns:a16="http://schemas.microsoft.com/office/drawing/2014/main" id="{DCEAE742-715A-E24A-91EA-2E67D5174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256" y="3082400"/>
            <a:ext cx="3240024" cy="203747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|  Řešený problém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Narůstající objem konverzací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každodenně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zpracovávají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tisíce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chatových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interakcí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zákazníky</a:t>
            </a: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Ruční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neúnosná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3375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3832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33832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Potřeba automatické analýzy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3832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Sentimentová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(NER)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rychlé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nestrukturovaných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jejich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přeměnu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kvantitativní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ukazatele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7432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55080" y="1737360"/>
            <a:ext cx="24688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6355080" y="181051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 ochrana dat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55080" y="2468880"/>
            <a:ext cx="24688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zpracování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konverzací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nutná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anonymizace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cs-CZ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Technické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cs-CZ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v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souladu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</a:t>
            </a:r>
            <a:r>
              <a:rPr lang="en-US" sz="14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nařízením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EU 2016/679</a:t>
            </a:r>
            <a:endParaRPr lang="en-US" sz="1400" dirty="0"/>
          </a:p>
        </p:txBody>
      </p:sp>
      <p:pic>
        <p:nvPicPr>
          <p:cNvPr id="20" name="Obrázek 19" descr="Live Chat Symbol Icon PNG Transparent Background, Free Download #7407 -  FreeIconsPNG">
            <a:extLst>
              <a:ext uri="{FF2B5EF4-FFF2-40B4-BE49-F238E27FC236}">
                <a16:creationId xmlns:a16="http://schemas.microsoft.com/office/drawing/2014/main" id="{058A22E1-7D8C-8D3D-51B0-DE770C5149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4" y="1069848"/>
            <a:ext cx="667512" cy="667512"/>
          </a:xfrm>
          <a:prstGeom prst="rect">
            <a:avLst/>
          </a:prstGeom>
        </p:spPr>
      </p:pic>
      <p:pic>
        <p:nvPicPr>
          <p:cNvPr id="21" name="Obrázek 20" descr="Analysis - Free seo and web icons">
            <a:extLst>
              <a:ext uri="{FF2B5EF4-FFF2-40B4-BE49-F238E27FC236}">
                <a16:creationId xmlns:a16="http://schemas.microsoft.com/office/drawing/2014/main" id="{50207C51-5612-0F75-A5DE-1E51027F7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2352" y="1128237"/>
            <a:ext cx="550735" cy="550735"/>
          </a:xfrm>
          <a:prstGeom prst="rect">
            <a:avLst/>
          </a:prstGeom>
        </p:spPr>
      </p:pic>
      <p:pic>
        <p:nvPicPr>
          <p:cNvPr id="24" name="Obrázek 23" descr="GDPR - Free security icons">
            <a:extLst>
              <a:ext uri="{FF2B5EF4-FFF2-40B4-BE49-F238E27FC236}">
                <a16:creationId xmlns:a16="http://schemas.microsoft.com/office/drawing/2014/main" id="{E38A2572-D74F-EFCE-7588-7BF69DC05C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152" y="1128237"/>
            <a:ext cx="550735" cy="5507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|  Cíl práce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8412480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813816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Analýza, návrh, implementace a testování systému pro automatickou extrakci a zpracování informací z neformálních textových konverzací prostřednictvím metod a přístupů umělé inteligence, fine-tuningu modelu a jeho nasazení pro koncové uživatele.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365760" y="2523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NLP metod pro sentimentovou klasifikaci a extrakci entit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36576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9443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Výběr vhodných datasetů a technologií (Python, Hugging Face, RoBERTa)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36576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419856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modelu RoBERTa na chatových konverzacích ve třech etapách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7" name="Text 15"/>
          <p:cNvSpPr/>
          <p:nvPr/>
        </p:nvSpPr>
        <p:spPr>
          <a:xfrm>
            <a:off x="3657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Implementace REST API (FastAPI) s anonymizací a databázovým logováním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36576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4370832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 funkčního dashboardu přístupného veřejnosti na Hugging Face Spaces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|  Metodika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&amp; datové sady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Python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4813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jazyk implementace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</a:t>
            </a:r>
            <a:endParaRPr lang="cs-CZ" sz="1100" b="1" dirty="0">
              <a:solidFill>
                <a:srgbClr val="1E293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202996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knihovna pro NLP modely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57860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zvolený transformer model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312724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367588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databáze logů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2920" y="42245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datasety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68880" y="4224528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chat-sentiment, EmpatheticDialogues, Chat Sentiment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206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fine-tuningu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1371600"/>
            <a:ext cx="3840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4846320" y="148132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9512" y="148132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Načtení</a:t>
            </a:r>
            <a:r>
              <a:rPr lang="cs-CZ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anonymizace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cs-CZ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cs-CZ" sz="1100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Tokenizace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39512" y="16824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maskování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cs-CZ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citlivých údajů &amp; </a:t>
            </a: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padding, truncation, attention mask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8" name="Text 26"/>
          <p:cNvSpPr/>
          <p:nvPr/>
        </p:nvSpPr>
        <p:spPr>
          <a:xfrm>
            <a:off x="4846320" y="202082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39512" y="202082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cs-CZ" sz="11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Nastavení </a:t>
            </a:r>
            <a:r>
              <a:rPr lang="cs-CZ" sz="1100" b="1" dirty="0" err="1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hyperparametrů</a:t>
            </a:r>
            <a:r>
              <a:rPr lang="cs-CZ" sz="11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 pro trénink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9512" y="2221992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cs-CZ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</a:t>
            </a:r>
            <a:r>
              <a:rPr lang="cs-CZ" sz="9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r>
              <a:rPr lang="cs-CZ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2e-5, počet epoch: 3, míra váhy úbytku: 0,1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2" name="Text 30"/>
          <p:cNvSpPr/>
          <p:nvPr/>
        </p:nvSpPr>
        <p:spPr>
          <a:xfrm>
            <a:off x="4846320" y="25603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239512" y="256032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– chat-sentiment (28,8k)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239512" y="276148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třídy: pos / neu / neg, vyvážení vah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6" name="Text 34"/>
          <p:cNvSpPr/>
          <p:nvPr/>
        </p:nvSpPr>
        <p:spPr>
          <a:xfrm>
            <a:off x="4846320" y="309981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9512" y="30998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2 – EmpatheticDialogues (25k)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39512" y="3300984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mapování 32 emocí → 3 třídy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0" name="Text 38"/>
          <p:cNvSpPr/>
          <p:nvPr/>
        </p:nvSpPr>
        <p:spPr>
          <a:xfrm>
            <a:off x="4846320" y="36393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512" y="36393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3 – Chat Sentiment Dataset (500)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239512" y="38404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 doladění neutralní třídy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4846320" y="417880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239512" y="41788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Testování &amp; nasazení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239512" y="437997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Hub + FastAPI + dashboard</a:t>
            </a:r>
            <a:endParaRPr lang="en-US" sz="950" dirty="0"/>
          </a:p>
        </p:txBody>
      </p:sp>
      <p:pic>
        <p:nvPicPr>
          <p:cNvPr id="47" name="Obrázek 46" descr="Python (programming language) - Wikipedia">
            <a:extLst>
              <a:ext uri="{FF2B5EF4-FFF2-40B4-BE49-F238E27FC236}">
                <a16:creationId xmlns:a16="http://schemas.microsoft.com/office/drawing/2014/main" id="{54E7655D-D296-D0B7-6883-B3954DE71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8636" y="1536192"/>
            <a:ext cx="364109" cy="364109"/>
          </a:xfrm>
          <a:prstGeom prst="rect">
            <a:avLst/>
          </a:prstGeom>
        </p:spPr>
      </p:pic>
      <p:pic>
        <p:nvPicPr>
          <p:cNvPr id="48" name="Obrázek 47" descr="Introduction with Hugging Face.. If you are new in Deep Learning Field… |  by Shadowshukla | AI Advances">
            <a:extLst>
              <a:ext uri="{FF2B5EF4-FFF2-40B4-BE49-F238E27FC236}">
                <a16:creationId xmlns:a16="http://schemas.microsoft.com/office/drawing/2014/main" id="{34320757-EE26-FEE0-3E0C-6453CD66AA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636" y="2076513"/>
            <a:ext cx="364109" cy="364109"/>
          </a:xfrm>
          <a:prstGeom prst="rect">
            <a:avLst/>
          </a:prstGeom>
        </p:spPr>
      </p:pic>
      <p:pic>
        <p:nvPicPr>
          <p:cNvPr id="54" name="Obrázek 53">
            <a:extLst>
              <a:ext uri="{FF2B5EF4-FFF2-40B4-BE49-F238E27FC236}">
                <a16:creationId xmlns:a16="http://schemas.microsoft.com/office/drawing/2014/main" id="{82002A51-DA0E-CDC6-172C-A83600D81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1714" y="3166872"/>
            <a:ext cx="377952" cy="377952"/>
          </a:xfrm>
          <a:prstGeom prst="rect">
            <a:avLst/>
          </a:prstGeom>
        </p:spPr>
      </p:pic>
      <p:pic>
        <p:nvPicPr>
          <p:cNvPr id="56" name="Obrázek 55">
            <a:extLst>
              <a:ext uri="{FF2B5EF4-FFF2-40B4-BE49-F238E27FC236}">
                <a16:creationId xmlns:a16="http://schemas.microsoft.com/office/drawing/2014/main" id="{83394F17-10FE-9CF1-4AA7-E599D764C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234" y="3739897"/>
            <a:ext cx="438912" cy="438912"/>
          </a:xfrm>
          <a:prstGeom prst="rect">
            <a:avLst/>
          </a:prstGeom>
        </p:spPr>
      </p:pic>
      <p:pic>
        <p:nvPicPr>
          <p:cNvPr id="59" name="Obrázek 58" descr="Vector image of blue and gray database symbol | Free SVG">
            <a:extLst>
              <a:ext uri="{FF2B5EF4-FFF2-40B4-BE49-F238E27FC236}">
                <a16:creationId xmlns:a16="http://schemas.microsoft.com/office/drawing/2014/main" id="{2F9FA12A-0BFE-C506-2B37-017D1B8687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1234" y="4239197"/>
            <a:ext cx="438912" cy="438912"/>
          </a:xfrm>
          <a:prstGeom prst="rect">
            <a:avLst/>
          </a:prstGeom>
        </p:spPr>
      </p:pic>
      <p:pic>
        <p:nvPicPr>
          <p:cNvPr id="60" name="Obrázek 59" descr="Transformer Model Icons - Free SVG &amp; PNG Transformer Model Images - Noun  Project">
            <a:extLst>
              <a:ext uri="{FF2B5EF4-FFF2-40B4-BE49-F238E27FC236}">
                <a16:creationId xmlns:a16="http://schemas.microsoft.com/office/drawing/2014/main" id="{C08756B9-B157-AA47-E194-0DBD9F8004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70669" y="2519774"/>
            <a:ext cx="580042" cy="580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|  Výsledky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92,82 %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finálního modelu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576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nezávislé testovací sadě (1 573 vzorků)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2800" b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9,41 %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9184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Došlo ke zlepšení </a:t>
            </a:r>
            <a:r>
              <a:rPr lang="cs-CZ" sz="105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accuracy</a:t>
            </a:r>
            <a:r>
              <a:rPr lang="cs-CZ" sz="105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z první verze modelu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9184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cs-CZ" sz="90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Z první verze 83,41 % na finální verzi 92,82 %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743200" cy="14173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6217920" y="10058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83,66 %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217920" y="16459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existující modely HF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17920" y="19659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twitter-roberta, sentiment-roberta-large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5760" y="2423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chyby – srovnání verzí modelu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72864"/>
              </p:ext>
            </p:extLst>
          </p:nvPr>
        </p:nvGraphicFramePr>
        <p:xfrm>
          <a:off x="274320" y="2788920"/>
          <a:ext cx="8595362" cy="2103120"/>
        </p:xfrm>
        <a:graphic>
          <a:graphicData uri="http://schemas.openxmlformats.org/drawingml/2006/table">
            <a:tbl>
              <a:tblPr/>
              <a:tblGrid>
                <a:gridCol w="1969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9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2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modelu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Hlavní typ chyby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chyb celkem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1 (dataset1)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83,41 %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Nepoměr tříd, až 76%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positive→neutral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negative→neutral</a:t>
                      </a: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Verze 2 (dataset2)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70,06 %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Nepřesné určování neutrálních sentimentů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(212×), neutral→negative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Finální (dataset3)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92,82 %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cs-CZ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Žádná zásadní chyba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neutral→positive</a:t>
                      </a: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(80×)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|  Doporučení &amp; zhodnocení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694944" y="1051560"/>
            <a:ext cx="3511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Splnění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cíle práce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1399032"/>
            <a:ext cx="374904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48132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Navržen a natrénován model RoBERTa (accuracy 92,82 %)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Text 10"/>
          <p:cNvSpPr/>
          <p:nvPr/>
        </p:nvSpPr>
        <p:spPr>
          <a:xfrm>
            <a:off x="457200" y="2130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210312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Překonány předtrénované referenční modely z Hugging Face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457200" y="2752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2724912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Implementováno REST API s anonymizací (GDPR) a logováním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457200" y="3374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3346704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veřejný dashboard na Hugging Face Spaces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457200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" y="3968496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open-source dostupný na GitHub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960120"/>
            <a:ext cx="420624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cs-CZ"/>
          </a:p>
        </p:txBody>
      </p:sp>
      <p:sp>
        <p:nvSpPr>
          <p:cNvPr id="24" name="Text 22"/>
          <p:cNvSpPr/>
          <p:nvPr/>
        </p:nvSpPr>
        <p:spPr>
          <a:xfrm>
            <a:off x="5084064" y="1051560"/>
            <a:ext cx="36027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Doporučení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rozvoj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846320" y="1399032"/>
            <a:ext cx="3840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Text 25"/>
          <p:cNvSpPr/>
          <p:nvPr/>
        </p:nvSpPr>
        <p:spPr>
          <a:xfrm>
            <a:off x="4846320" y="1508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1508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na doménových datech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178308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Přizpůsobení zákaznickým chatům konkrétní firmy zvýší přesnost o dalších 5–10 %.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1" name="Text 29"/>
          <p:cNvSpPr/>
          <p:nvPr/>
        </p:nvSpPr>
        <p:spPr>
          <a:xfrm>
            <a:off x="4846320" y="2331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6636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Detekce ironie a sarkasmu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66360" y="26060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Největší výzva pro NLP; řešení: více kontextu, víceúrovňové modely.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5" name="Text 33"/>
          <p:cNvSpPr/>
          <p:nvPr/>
        </p:nvSpPr>
        <p:spPr>
          <a:xfrm>
            <a:off x="4846320" y="3154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66360" y="3154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Zpětná vazba uživatelů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166360" y="34290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Mechanismus potvrzování/opravy sentimentu umožní průběžné online učení.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9" name="Text 37"/>
          <p:cNvSpPr/>
          <p:nvPr/>
        </p:nvSpPr>
        <p:spPr>
          <a:xfrm>
            <a:off x="4846320" y="3977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166360" y="3977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Rozšíření anonymizace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519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Nahradit regex NER modelem pro přesnější detekci jmen v kontextu.</a:t>
            </a:r>
            <a:endParaRPr lang="en-US" sz="1000" dirty="0"/>
          </a:p>
        </p:txBody>
      </p:sp>
      <p:pic>
        <p:nvPicPr>
          <p:cNvPr id="55" name="Obrázek 54">
            <a:extLst>
              <a:ext uri="{FF2B5EF4-FFF2-40B4-BE49-F238E27FC236}">
                <a16:creationId xmlns:a16="http://schemas.microsoft.com/office/drawing/2014/main" id="{7CF76C98-924A-D0A7-0B34-F00FFC891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33" y="989488"/>
            <a:ext cx="434010" cy="405705"/>
          </a:xfrm>
          <a:prstGeom prst="rect">
            <a:avLst/>
          </a:prstGeom>
        </p:spPr>
      </p:pic>
      <p:pic>
        <p:nvPicPr>
          <p:cNvPr id="57" name="Obrázek 56">
            <a:extLst>
              <a:ext uri="{FF2B5EF4-FFF2-40B4-BE49-F238E27FC236}">
                <a16:creationId xmlns:a16="http://schemas.microsoft.com/office/drawing/2014/main" id="{380CD879-32D6-3973-AB54-BE23FDEFC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564" y="960120"/>
            <a:ext cx="464440" cy="464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vedoucího práce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685800" y="26517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zahrnovalo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těchto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oblastí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považuje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výsledném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nejlépe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naplněné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které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dopracovat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produkční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685800" y="3657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zlepšil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údajů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zejména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rozpoznávání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osobních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aby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řešení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lépe</a:t>
            </a:r>
            <a:endParaRPr lang="en-US" sz="1300" i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odpovídalo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požadavkům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GDPR a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použitelné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zákaznické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konverzace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B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EA4F55-8BE2-233D-3BEE-191B9B84B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FFCA45-A55A-FDE7-AA91-DEC3B9A32D26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B2E45A1-52F7-273D-F6E0-3B4B35E3BCE9}"/>
              </a:ext>
            </a:extLst>
          </p:cNvPr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Odpovědi na otázky</a:t>
            </a:r>
            <a:endParaRPr lang="en-US" sz="32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6202DCF-8BC0-36C5-6CF7-2889CEC38E46}"/>
              </a:ext>
            </a:extLst>
          </p:cNvPr>
          <p:cNvSpPr/>
          <p:nvPr/>
        </p:nvSpPr>
        <p:spPr>
          <a:xfrm>
            <a:off x="548640" y="1965960"/>
            <a:ext cx="4572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96529D0-EE49-6B2C-0485-33E9FD59DBDF}"/>
              </a:ext>
            </a:extLst>
          </p:cNvPr>
          <p:cNvSpPr/>
          <p:nvPr/>
        </p:nvSpPr>
        <p:spPr>
          <a:xfrm>
            <a:off x="548640" y="2103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400" i="1" dirty="0">
                <a:solidFill>
                  <a:srgbClr val="14B8A6"/>
                </a:solidFill>
                <a:latin typeface="Calibri" pitchFamily="34" charset="0"/>
                <a:cs typeface="Calibri" pitchFamily="34" charset="-120"/>
              </a:rPr>
              <a:t>Otázky oponenta práce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8B2672-4360-283A-0929-97FECD059DFD}"/>
              </a:ext>
            </a:extLst>
          </p:cNvPr>
          <p:cNvSpPr/>
          <p:nvPr/>
        </p:nvSpPr>
        <p:spPr>
          <a:xfrm>
            <a:off x="548640" y="246888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D76E8F0-3E00-B6F9-D1F8-A57EAEA8DA54}"/>
              </a:ext>
            </a:extLst>
          </p:cNvPr>
          <p:cNvSpPr/>
          <p:nvPr/>
        </p:nvSpPr>
        <p:spPr>
          <a:xfrm>
            <a:off x="68580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využíváte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limitující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regulární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výrazy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Uvažoval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NER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Jak by to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ovlivnilo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výpočetní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náročnost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6FE10B6-442B-F34C-8A5C-430D8637823B}"/>
              </a:ext>
            </a:extLst>
          </p:cNvPr>
          <p:cNvSpPr/>
          <p:nvPr/>
        </p:nvSpPr>
        <p:spPr>
          <a:xfrm>
            <a:off x="548640" y="336042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1666A3D-3009-4B3C-310D-D96DC00B4C5C}"/>
              </a:ext>
            </a:extLst>
          </p:cNvPr>
          <p:cNvSpPr/>
          <p:nvPr/>
        </p:nvSpPr>
        <p:spPr>
          <a:xfrm>
            <a:off x="685800" y="33604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Finální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vyhodnocujete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primárně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předzpracovaných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syntetických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(ChatGPT, Gemini). Byl model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testován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surových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reálných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obsahujících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překlepy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slang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chybějící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diakritiku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)?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0D805DCC-4DD8-75CD-6CC5-80B05098C6C8}"/>
              </a:ext>
            </a:extLst>
          </p:cNvPr>
          <p:cNvSpPr/>
          <p:nvPr/>
        </p:nvSpPr>
        <p:spPr>
          <a:xfrm>
            <a:off x="548640" y="4251960"/>
            <a:ext cx="8046720" cy="822960"/>
          </a:xfrm>
          <a:prstGeom prst="rect">
            <a:avLst/>
          </a:prstGeom>
          <a:solidFill>
            <a:srgbClr val="1E3A5F"/>
          </a:solidFill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cs-CZ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CCD5DE9-14FF-D129-A001-7E634D415DFA}"/>
              </a:ext>
            </a:extLst>
          </p:cNvPr>
          <p:cNvSpPr/>
          <p:nvPr/>
        </p:nvSpPr>
        <p:spPr>
          <a:xfrm>
            <a:off x="685800" y="42519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cs-CZ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Zmiňujete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nastavení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parametrů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učení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hyperparametrickou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optimalizaci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např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Grid Search),</a:t>
            </a:r>
          </a:p>
          <a:p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nebo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jste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převzal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oborové</a:t>
            </a:r>
            <a:r>
              <a:rPr lang="en-US" sz="13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„best-practices“?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1741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1234</TotalTime>
  <Words>761</Words>
  <Application>Microsoft Office PowerPoint</Application>
  <PresentationFormat>Předvádění na obrazovce (16:9)</PresentationFormat>
  <Paragraphs>143</Paragraphs>
  <Slides>8</Slides>
  <Notes>8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Vojtěch Mahdal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Analýza a extrakce dat z konverzací</dc:title>
  <dc:creator>Mahdal Vojtěch</dc:creator>
  <cp:lastModifiedBy>Mahdal Vojtěch (221834)</cp:lastModifiedBy>
  <cp:revision>16</cp:revision>
  <dcterms:created xsi:type="dcterms:W3CDTF">2026-05-27T06:15:10Z</dcterms:created>
  <dcterms:modified xsi:type="dcterms:W3CDTF">2026-06-22T11:18:25Z</dcterms:modified>
</cp:coreProperties>
</file>