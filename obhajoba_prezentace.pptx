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075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D5BEB-5653-A340-6270-5B6C74259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0F41-0D53-6669-E1D6-7FA8347989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D30A-40FC-DFDC-4186-D66DDAD00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D1617-F9AE-1E1D-DDA5-4988EA4035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28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DIPLOMOVÁ PRÁCE  ·  MENDEL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UNIVERZITA V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BRN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Ě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a extrakce dat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konverzací mezi uživateli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podpůrnými službami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029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Bc. Vojtěch Mahdal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doc. Ing. Oldřich Trenz, Ph.D.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Ústav informatiky  ·  Provozně ekonomická fakulta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 ·  Sentiment analýza  ·  RoBERTa  ·  FastAPI  ·  GDPR</a:t>
            </a:r>
            <a:endParaRPr lang="en-US" sz="1000" dirty="0"/>
          </a:p>
        </p:txBody>
      </p:sp>
      <p:pic>
        <p:nvPicPr>
          <p:cNvPr id="11" name="Obrázek 10" descr="Detail fakulty | GAUDEAMUS">
            <a:extLst>
              <a:ext uri="{FF2B5EF4-FFF2-40B4-BE49-F238E27FC236}">
                <a16:creationId xmlns:a16="http://schemas.microsoft.com/office/drawing/2014/main" id="{DCEAE742-715A-E24A-91EA-2E67D5174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256" y="3082400"/>
            <a:ext cx="3240024" cy="20374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|  Řešený problém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Narůstající objem konverzací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Organizace každodenně zpracovávají tisíce chatových interakcí se zákazníky. Ruční analýza je neúnosná.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3375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33832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Potřeba automatické analýzy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Sentimentová analýza a extrakce entit (NER) umožňují rychlé zpracování nestrukturovaných dat a jejich přeměnu na kvantitativní ukazatele.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550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63550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 ochrana dat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zpracování konverzací je nutná anonymizace osobních údajů. Technické řešení musí být v souladu s nařízením EU 2016/679.</a:t>
            </a:r>
            <a:endParaRPr lang="en-US" sz="1100" dirty="0"/>
          </a:p>
        </p:txBody>
      </p:sp>
      <p:pic>
        <p:nvPicPr>
          <p:cNvPr id="20" name="Obrázek 19" descr="Live Chat Symbol Icon PNG Transparent Background, Free Download #7407 -  FreeIconsPNG">
            <a:extLst>
              <a:ext uri="{FF2B5EF4-FFF2-40B4-BE49-F238E27FC236}">
                <a16:creationId xmlns:a16="http://schemas.microsoft.com/office/drawing/2014/main" id="{058A22E1-7D8C-8D3D-51B0-DE770C514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4" y="1069848"/>
            <a:ext cx="667512" cy="667512"/>
          </a:xfrm>
          <a:prstGeom prst="rect">
            <a:avLst/>
          </a:prstGeom>
        </p:spPr>
      </p:pic>
      <p:pic>
        <p:nvPicPr>
          <p:cNvPr id="21" name="Obrázek 20" descr="Analysis - Free seo and web icons">
            <a:extLst>
              <a:ext uri="{FF2B5EF4-FFF2-40B4-BE49-F238E27FC236}">
                <a16:creationId xmlns:a16="http://schemas.microsoft.com/office/drawing/2014/main" id="{50207C51-5612-0F75-A5DE-1E51027F7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2352" y="1128237"/>
            <a:ext cx="550735" cy="550735"/>
          </a:xfrm>
          <a:prstGeom prst="rect">
            <a:avLst/>
          </a:prstGeom>
        </p:spPr>
      </p:pic>
      <p:pic>
        <p:nvPicPr>
          <p:cNvPr id="24" name="Obrázek 23" descr="GDPR - Free security icons">
            <a:extLst>
              <a:ext uri="{FF2B5EF4-FFF2-40B4-BE49-F238E27FC236}">
                <a16:creationId xmlns:a16="http://schemas.microsoft.com/office/drawing/2014/main" id="{E38A2572-D74F-EFCE-7588-7BF69DC05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152" y="1128237"/>
            <a:ext cx="550735" cy="5507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|  Cíl práce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Analýza, návrh, implementace a testování systému pro automatickou extrakci a zpracování informací z neformálních textových konverzací prostřednictvím metod a přístupů umělé inteligence, fine-tuningu modelu a jeho nasazení pro koncové uživatele.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NLP metod pro sentimentovou klasifikaci a extrakci entit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944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Výběr vhodných datasetů a technologií (Python, Hugging Face, RoBERTa)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41985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modelu RoBERTa na chatových konverzacích ve třech etapách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Implementace REST API (FastAPI) s anonymizací a databázovým logováním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3708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 funkčního dashboardu přístupného veřejnosti na Hugging Face Spaces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|  Metodika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datové sady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4813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jazyk implementace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</a:t>
            </a:r>
            <a:endParaRPr lang="cs-CZ" sz="1100" b="1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0299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knihovna pro NLP modely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5786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zvolený transformer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367588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databáze logů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2245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datasety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42245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chat-sentiment, EmpatheticDialogues, Chat Sentiment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fine-tuningu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1371600"/>
            <a:ext cx="3840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9512" y="148132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Načtení &amp; anonymizace dat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9512" y="16824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maskování jmen, e-mailů, tel. čísel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39512" y="20208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Tokenizace (RoBERTa tokenizer)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9512" y="22219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padding, truncation, attention mask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 30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39512" y="25603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– chat-sentiment (28,8k)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39512" y="27614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třídy: pos / neu / neg, vyvážení vah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6" name="Text 34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9512" y="30998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– EmpatheticDialogues (25k)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39512" y="33009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mapování 32 emocí → 3 třídy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0" name="Text 38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512" y="36393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– Chat Sentiment Dataset (500)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39512" y="38404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doladění neutralní třídy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239512" y="41788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Testování &amp; nasazení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239512" y="437997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Hub + FastAPI + dashboard</a:t>
            </a:r>
            <a:endParaRPr lang="en-US" sz="950" dirty="0"/>
          </a:p>
        </p:txBody>
      </p:sp>
      <p:pic>
        <p:nvPicPr>
          <p:cNvPr id="47" name="Obrázek 46" descr="Python (programming language) - Wikipedia">
            <a:extLst>
              <a:ext uri="{FF2B5EF4-FFF2-40B4-BE49-F238E27FC236}">
                <a16:creationId xmlns:a16="http://schemas.microsoft.com/office/drawing/2014/main" id="{54E7655D-D296-D0B7-6883-B3954DE71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636" y="1536192"/>
            <a:ext cx="364109" cy="364109"/>
          </a:xfrm>
          <a:prstGeom prst="rect">
            <a:avLst/>
          </a:prstGeom>
        </p:spPr>
      </p:pic>
      <p:pic>
        <p:nvPicPr>
          <p:cNvPr id="48" name="Obrázek 47" descr="Introduction with Hugging Face.. If you are new in Deep Learning Field… |  by Shadowshukla | AI Advances">
            <a:extLst>
              <a:ext uri="{FF2B5EF4-FFF2-40B4-BE49-F238E27FC236}">
                <a16:creationId xmlns:a16="http://schemas.microsoft.com/office/drawing/2014/main" id="{34320757-EE26-FEE0-3E0C-6453CD66A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636" y="2076513"/>
            <a:ext cx="364109" cy="364109"/>
          </a:xfrm>
          <a:prstGeom prst="rect">
            <a:avLst/>
          </a:prstGeom>
        </p:spPr>
      </p:pic>
      <p:pic>
        <p:nvPicPr>
          <p:cNvPr id="54" name="Obrázek 53">
            <a:extLst>
              <a:ext uri="{FF2B5EF4-FFF2-40B4-BE49-F238E27FC236}">
                <a16:creationId xmlns:a16="http://schemas.microsoft.com/office/drawing/2014/main" id="{82002A51-DA0E-CDC6-172C-A83600D81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1714" y="3166872"/>
            <a:ext cx="377952" cy="377952"/>
          </a:xfrm>
          <a:prstGeom prst="rect">
            <a:avLst/>
          </a:prstGeom>
        </p:spPr>
      </p:pic>
      <p:pic>
        <p:nvPicPr>
          <p:cNvPr id="56" name="Obrázek 55">
            <a:extLst>
              <a:ext uri="{FF2B5EF4-FFF2-40B4-BE49-F238E27FC236}">
                <a16:creationId xmlns:a16="http://schemas.microsoft.com/office/drawing/2014/main" id="{83394F17-10FE-9CF1-4AA7-E599D764C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234" y="3739897"/>
            <a:ext cx="438912" cy="438912"/>
          </a:xfrm>
          <a:prstGeom prst="rect">
            <a:avLst/>
          </a:prstGeom>
        </p:spPr>
      </p:pic>
      <p:pic>
        <p:nvPicPr>
          <p:cNvPr id="59" name="Obrázek 58" descr="Vector image of blue and gray database symbol | Free SVG">
            <a:extLst>
              <a:ext uri="{FF2B5EF4-FFF2-40B4-BE49-F238E27FC236}">
                <a16:creationId xmlns:a16="http://schemas.microsoft.com/office/drawing/2014/main" id="{2F9FA12A-0BFE-C506-2B37-017D1B8687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1234" y="4239197"/>
            <a:ext cx="438912" cy="438912"/>
          </a:xfrm>
          <a:prstGeom prst="rect">
            <a:avLst/>
          </a:prstGeom>
        </p:spPr>
      </p:pic>
      <p:pic>
        <p:nvPicPr>
          <p:cNvPr id="60" name="Obrázek 59" descr="Transformer Model Icons - Free SVG &amp; PNG Transformer Model Images - Noun  Project">
            <a:extLst>
              <a:ext uri="{FF2B5EF4-FFF2-40B4-BE49-F238E27FC236}">
                <a16:creationId xmlns:a16="http://schemas.microsoft.com/office/drawing/2014/main" id="{C08756B9-B157-AA47-E194-0DBD9F8004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0669" y="2519774"/>
            <a:ext cx="580042" cy="580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|  Výsledky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92,82 %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finálního modelu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nezávislé testovací sadě (1 573 vzorků)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0,9152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finální verze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vyvážená metrika pro 3 třídy sentimentu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21792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83,66 %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existující modely HF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twitter-roberta, sentiment-roberta-large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2423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chyby – srovnání verzí modelu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72864"/>
              </p:ext>
            </p:extLst>
          </p:nvPr>
        </p:nvGraphicFramePr>
        <p:xfrm>
          <a:off x="274320" y="2788920"/>
          <a:ext cx="8595362" cy="2103120"/>
        </p:xfrm>
        <a:graphic>
          <a:graphicData uri="http://schemas.openxmlformats.org/drawingml/2006/table">
            <a:tbl>
              <a:tblPr/>
              <a:tblGrid>
                <a:gridCol w="1969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2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modelu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Hlavní typ chyby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chyb celkem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1 (dataset1)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83,41 %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Nepoměr tříd, až 76%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positive→neutral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negative→neutral</a:t>
                      </a: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2 (dataset2)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70,06 %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Nepřesné určování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(212×), neutral→negative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Finální (dataset3)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92,82 %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Žádná zásadní chyba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(80×)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|  Doporučení &amp; zhodnocení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94944" y="1051560"/>
            <a:ext cx="3511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Splnění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cíle práce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1399032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Navržen a natrénován model RoBERTa (accuracy 92,82 %)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103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předtrénované referenční modely z Hugging Face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Implementováno REST API s anonymizací (GDPR) a logováním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346704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veřejný dashboard na Hugging Face Spaces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96849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open-source dostupný na GitHub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960120"/>
            <a:ext cx="42062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5084064" y="1051560"/>
            <a:ext cx="3602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Doporučení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rozvoj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46320" y="1399032"/>
            <a:ext cx="3840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Text 25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1508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na doménových datech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17830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Přizpůsobení zákaznickým chatům konkrétní firmy zvýší přesnost o dalších 5–10 %.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Detekce ironie a sarkasmu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26060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Největší výzva pro NLP; řešení: více kontextu, víceúrovňové modely.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5" name="Text 33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6636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Zpětná vazba uživatelů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66360" y="34290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potvrzování/opravy sentimentu umožní průběžné online učení.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9" name="Text 37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66360" y="3977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Rozšíření anonymizace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51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Nahradit regex NER modelem pro přesnější detekci jmen v kontextu.</a:t>
            </a:r>
            <a:endParaRPr lang="en-US" sz="1000" dirty="0"/>
          </a:p>
        </p:txBody>
      </p:sp>
      <p:pic>
        <p:nvPicPr>
          <p:cNvPr id="55" name="Obrázek 54">
            <a:extLst>
              <a:ext uri="{FF2B5EF4-FFF2-40B4-BE49-F238E27FC236}">
                <a16:creationId xmlns:a16="http://schemas.microsoft.com/office/drawing/2014/main" id="{7CF76C98-924A-D0A7-0B34-F00FFC891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33" y="989488"/>
            <a:ext cx="434010" cy="405705"/>
          </a:xfrm>
          <a:prstGeom prst="rect">
            <a:avLst/>
          </a:prstGeom>
        </p:spPr>
      </p:pic>
      <p:pic>
        <p:nvPicPr>
          <p:cNvPr id="57" name="Obrázek 56">
            <a:extLst>
              <a:ext uri="{FF2B5EF4-FFF2-40B4-BE49-F238E27FC236}">
                <a16:creationId xmlns:a16="http://schemas.microsoft.com/office/drawing/2014/main" id="{380CD879-32D6-3973-AB54-BE23FDEFC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64" y="960120"/>
            <a:ext cx="464440" cy="46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vedoucího práce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zahrnovalo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těchto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oblastí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považuje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výsledném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nejlépe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naplněné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dopracovat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produkční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zlepšil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zejména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rozpoznávání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lépe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odpovídalo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požadavkům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GDPR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použitelné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zákaznické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EA4F55-8BE2-233D-3BEE-191B9B84B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FFCA45-A55A-FDE7-AA91-DEC3B9A32D26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2E45A1-52F7-273D-F6E0-3B4B35E3BCE9}"/>
              </a:ext>
            </a:extLst>
          </p:cNvPr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202DCF-8BC0-36C5-6CF7-2889CEC38E46}"/>
              </a:ext>
            </a:extLst>
          </p:cNvPr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6529D0-EE49-6B2C-0485-33E9FD59DBDF}"/>
              </a:ext>
            </a:extLst>
          </p:cNvPr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oponenta práce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8B2672-4360-283A-0929-97FECD059DFD}"/>
              </a:ext>
            </a:extLst>
          </p:cNvPr>
          <p:cNvSpPr/>
          <p:nvPr/>
        </p:nvSpPr>
        <p:spPr>
          <a:xfrm>
            <a:off x="548640" y="246888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D76E8F0-3E00-B6F9-D1F8-A57EAEA8DA54}"/>
              </a:ext>
            </a:extLst>
          </p:cNvPr>
          <p:cNvSpPr/>
          <p:nvPr/>
        </p:nvSpPr>
        <p:spPr>
          <a:xfrm>
            <a:off x="68580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využíváte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limitující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regulární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výrazy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Uvažoval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NER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Jak by to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ovlivnilo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6FE10B6-442B-F34C-8A5C-430D8637823B}"/>
              </a:ext>
            </a:extLst>
          </p:cNvPr>
          <p:cNvSpPr/>
          <p:nvPr/>
        </p:nvSpPr>
        <p:spPr>
          <a:xfrm>
            <a:off x="548640" y="336042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1666A3D-3009-4B3C-310D-D96DC00B4C5C}"/>
              </a:ext>
            </a:extLst>
          </p:cNvPr>
          <p:cNvSpPr/>
          <p:nvPr/>
        </p:nvSpPr>
        <p:spPr>
          <a:xfrm>
            <a:off x="685800" y="33604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vyhodnocujete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primárně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předzpracovaných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syntetických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(ChatGPT, Gemini). Byl model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surových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obsahujících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překlepy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slang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chybějící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diakritiku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0D805DCC-4DD8-75CD-6CC5-80B05098C6C8}"/>
              </a:ext>
            </a:extLst>
          </p:cNvPr>
          <p:cNvSpPr/>
          <p:nvPr/>
        </p:nvSpPr>
        <p:spPr>
          <a:xfrm>
            <a:off x="548640" y="42519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CCD5DE9-14FF-D129-A001-7E634D415DFA}"/>
              </a:ext>
            </a:extLst>
          </p:cNvPr>
          <p:cNvSpPr/>
          <p:nvPr/>
        </p:nvSpPr>
        <p:spPr>
          <a:xfrm>
            <a:off x="685800" y="42519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Zmiňujete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hyperparametrickou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např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Grid Search),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převzal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oborové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„best-practices“?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1741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745</Words>
  <Application>Microsoft Office PowerPoint</Application>
  <PresentationFormat>Předvádění na obrazovce (16:9)</PresentationFormat>
  <Paragraphs>139</Paragraphs>
  <Slides>8</Slides>
  <Notes>8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Analýza a extrakce dat z konverzací</dc:title>
  <dc:subject>PptxGenJS Presentation</dc:subject>
  <dc:creator>PptxGenJS</dc:creator>
  <cp:lastModifiedBy>Mahdal Vojtěch (221834)</cp:lastModifiedBy>
  <cp:revision>10</cp:revision>
  <dcterms:created xsi:type="dcterms:W3CDTF">2026-05-27T06:15:10Z</dcterms:created>
  <dcterms:modified xsi:type="dcterms:W3CDTF">2026-06-20T21:39:45Z</dcterms:modified>
</cp:coreProperties>
</file>